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99FF"/>
    <a:srgbClr val="FF00FF"/>
    <a:srgbClr val="CC0000"/>
    <a:srgbClr val="CC6600"/>
    <a:srgbClr val="FF9966"/>
    <a:srgbClr val="FFFF66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7" d="100"/>
          <a:sy n="37" d="100"/>
        </p:scale>
        <p:origin x="3396" y="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D37DC-438D-4960-A745-486CA2D07F0F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EEC0B-9205-40D0-B3AB-C7D942665D0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649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EEC0B-9205-40D0-B3AB-C7D942665D0C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799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EDBC-D85A-A015-9E31-D0561A117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BD47F-114B-E9D3-7B51-DC9928463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5DA8-5F73-F700-7466-2F03E1A7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94A7-1984-2D55-4264-85F2733A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8F3B7-DDFB-2D05-31AB-207D9498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704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F13A-0F4C-FF1B-1157-392FD219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2844-F03F-9975-E7B1-35E460622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1E66F-B9B8-49FB-9F0E-F546AF08A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2F96E-5022-C761-EB7E-D94192E7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C0CEA-7B4B-E2D2-CB2B-2C02224B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285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E3E4-97E9-B4A1-7CC4-E5F79C9E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B75CB-8F31-08FA-5457-D7C922F8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6FDD-C3C5-18D5-5930-73E3F245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EA566-3DF3-3C92-6F5F-C83821F0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3E08-CA5D-523A-7FBD-E898F6B7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909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04B9-E0BA-267B-11E4-7D94D7BB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A213-8645-91BA-9E4A-AE54EBE80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1943A-8188-039C-BAF6-3D82B873F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6B636-8A4A-1BD1-94EF-DCD5DEA3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900AF-67F7-17F1-47B6-E9E54206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68A02-DB33-2DF9-57F3-6EC7341F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029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71D4-3ACF-A11C-EE55-B97E4BB2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704B9-9055-DAE3-CB76-C08EAF5A0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5F482-C12B-706A-2F9E-8A1A102C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F4E27-CF4E-638E-AFB6-DF7FDD1EE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7DE4F-C03F-99C7-ECFF-DFBD7CE8A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766A83-FC75-0899-52F6-0F2523E3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04FD0-D29C-5960-1DD7-44CAF8D7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D668E-F941-CB84-CA8D-D9100A61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760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5A5D-3800-5ABC-9D8F-81B572F9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7696F-15A5-8A68-A714-46A81900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001F8-862A-7D16-4BC5-80480BC0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22105-90F6-086B-6035-FECB317C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961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12921-6DD2-7B60-951E-CF44071C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D9AB8-E503-510A-2C3E-70F18438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146EA-3746-E828-03C0-A9593451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758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30F0-A1B1-871B-A93E-7901E7E5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14B5-50C8-A0C3-EE07-6030E80C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E49FC-2201-0F87-3090-1F53F3F80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07FCB-AFBE-1913-F253-90BF9F53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4EF30-256B-D2BB-55D2-8A37EDE4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C125-DC71-227C-1F79-D1EF3245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635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18F5-7DF3-4792-FC84-671FA4B9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19F41-A20E-0F9B-324C-B966EACE1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A9F44-B3EA-2ECD-DC91-887314A10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B1130-D585-62CB-36AA-FB9638ED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E02F5-5274-56BE-A231-D887994D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A00E6-8592-5ED4-99BC-71B3488B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923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EBD8-68A6-713C-3965-39F947BB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52EB0-5B7D-8544-6BC5-8F26BC1C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B2979-2551-FBCE-CC46-575710DB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82941-FE80-C5DF-5650-ACC8E253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0E1F-1708-D63F-3F2E-F5C1A120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708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FEB33-C51E-5BC1-B783-B76184A18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CC2EF-2141-2DC6-8F74-8216FD4BB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3208-D5B9-F10A-1AF0-11424979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21BD7-BEAD-E123-09F0-4162270D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6E3F5-84DE-8501-DA41-118CFA9C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944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1ED03-35FD-7AC2-8DB7-65F58EBB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89B-7B37-3FF3-B77A-4A10455E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32258-0955-2A29-06D6-5B5115CB4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4EA9D-D01D-4912-A0E0-040B1D946488}" type="datetimeFigureOut">
              <a:rPr lang="en-PK" smtClean="0"/>
              <a:t>16/04/2026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9D9DD-7C7C-4349-CF26-967383D11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54B74-16F0-6263-8C2E-2FAF28A55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908E3-FB37-42A4-8D56-1A7E3F9892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13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6EB082-2A15-CAC1-0B34-3A882F830833}"/>
              </a:ext>
            </a:extLst>
          </p:cNvPr>
          <p:cNvSpPr/>
          <p:nvPr/>
        </p:nvSpPr>
        <p:spPr>
          <a:xfrm>
            <a:off x="-8569234" y="-1698172"/>
            <a:ext cx="30749965" cy="1267097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41BE0-6965-F65A-CCF9-170EA513C7D9}"/>
              </a:ext>
            </a:extLst>
          </p:cNvPr>
          <p:cNvSpPr/>
          <p:nvPr/>
        </p:nvSpPr>
        <p:spPr>
          <a:xfrm>
            <a:off x="-7907656" y="-849631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E92ECD-6D1A-EF99-8703-2B19DCAD6FB9}"/>
              </a:ext>
            </a:extLst>
          </p:cNvPr>
          <p:cNvSpPr/>
          <p:nvPr/>
        </p:nvSpPr>
        <p:spPr>
          <a:xfrm>
            <a:off x="-6517005" y="-1249680"/>
            <a:ext cx="1733550" cy="8763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1.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C7BB01-5AC7-3EC5-58B2-B435E9F23548}"/>
              </a:ext>
            </a:extLst>
          </p:cNvPr>
          <p:cNvSpPr/>
          <p:nvPr/>
        </p:nvSpPr>
        <p:spPr>
          <a:xfrm>
            <a:off x="-4764404" y="-1068705"/>
            <a:ext cx="4381500" cy="5143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Cleaning, Encoding, And Normalization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90EB7A-AA35-0FAD-2067-E388E38E5FD4}"/>
              </a:ext>
            </a:extLst>
          </p:cNvPr>
          <p:cNvSpPr/>
          <p:nvPr/>
        </p:nvSpPr>
        <p:spPr>
          <a:xfrm>
            <a:off x="-7793354" y="169542"/>
            <a:ext cx="1524001" cy="5238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Xraw∈RN×17</a:t>
            </a:r>
            <a:endParaRPr lang="en-PK" sz="16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5C6B70-3FAA-9326-35D2-5D09EBA36B6E}"/>
              </a:ext>
            </a:extLst>
          </p:cNvPr>
          <p:cNvSpPr/>
          <p:nvPr/>
        </p:nvSpPr>
        <p:spPr>
          <a:xfrm>
            <a:off x="-5897882" y="-59058"/>
            <a:ext cx="4733927" cy="25717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Remove Duplicate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Sparse Timestamp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Derive Hour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Derive Day Of Week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Drop Timestamp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Label Encode Categorical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Fill Missing Numeric Values With Median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Standardize All Features</a:t>
            </a:r>
            <a:endParaRPr lang="en-PK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B547254-A867-4757-F083-EEAD8713F53F}"/>
                  </a:ext>
                </a:extLst>
              </p:cNvPr>
              <p:cNvSpPr/>
              <p:nvPr/>
            </p:nvSpPr>
            <p:spPr>
              <a:xfrm>
                <a:off x="-530545" y="431479"/>
                <a:ext cx="2147890" cy="135255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Arial Narrow" panose="020B0606020202030204" pitchFamily="34" charset="0"/>
                  </a:rPr>
                  <a:t>Normalized feature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B547254-A867-4757-F083-EEAD8713F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0545" y="431479"/>
                <a:ext cx="2147890" cy="13525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478F6B2C-32B8-AF2C-2E83-A5CADF57F305}"/>
              </a:ext>
            </a:extLst>
          </p:cNvPr>
          <p:cNvSpPr/>
          <p:nvPr/>
        </p:nvSpPr>
        <p:spPr>
          <a:xfrm rot="5400000">
            <a:off x="-6950392" y="974403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562A9A-000B-9074-E697-2D292B8D022F}"/>
              </a:ext>
            </a:extLst>
          </p:cNvPr>
          <p:cNvSpPr/>
          <p:nvPr/>
        </p:nvSpPr>
        <p:spPr>
          <a:xfrm>
            <a:off x="-1099664" y="995835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D37E4-CECF-B753-9C3C-25D2B21923C9}"/>
              </a:ext>
            </a:extLst>
          </p:cNvPr>
          <p:cNvSpPr txBox="1"/>
          <p:nvPr/>
        </p:nvSpPr>
        <p:spPr>
          <a:xfrm>
            <a:off x="-7426642" y="-199790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F9DF2-EE83-4C6B-2081-52F4CA51FAB5}"/>
              </a:ext>
            </a:extLst>
          </p:cNvPr>
          <p:cNvSpPr txBox="1"/>
          <p:nvPr/>
        </p:nvSpPr>
        <p:spPr>
          <a:xfrm>
            <a:off x="-4302443" y="-384456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CB229-6E8A-0227-BA43-BD8A8CB691C2}"/>
              </a:ext>
            </a:extLst>
          </p:cNvPr>
          <p:cNvSpPr txBox="1"/>
          <p:nvPr/>
        </p:nvSpPr>
        <p:spPr>
          <a:xfrm>
            <a:off x="124300" y="-1512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B4816-56ED-6509-E827-D84C903C46F8}"/>
              </a:ext>
            </a:extLst>
          </p:cNvPr>
          <p:cNvSpPr/>
          <p:nvPr/>
        </p:nvSpPr>
        <p:spPr>
          <a:xfrm>
            <a:off x="1903095" y="-849631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9E8272-1543-C804-EA47-E5CBDD97F791}"/>
              </a:ext>
            </a:extLst>
          </p:cNvPr>
          <p:cNvSpPr/>
          <p:nvPr/>
        </p:nvSpPr>
        <p:spPr>
          <a:xfrm>
            <a:off x="3293746" y="-1249680"/>
            <a:ext cx="1733550" cy="8763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2.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DF9618-F607-8FEF-5220-CF953623BDDF}"/>
              </a:ext>
            </a:extLst>
          </p:cNvPr>
          <p:cNvSpPr/>
          <p:nvPr/>
        </p:nvSpPr>
        <p:spPr>
          <a:xfrm>
            <a:off x="5046347" y="-1068705"/>
            <a:ext cx="4381500" cy="51435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Cleaning, Encoding, And Normalization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E69A1A3-FDEE-1C60-FD53-1EBBF322B0E2}"/>
                  </a:ext>
                </a:extLst>
              </p:cNvPr>
              <p:cNvSpPr/>
              <p:nvPr/>
            </p:nvSpPr>
            <p:spPr>
              <a:xfrm>
                <a:off x="2017397" y="169542"/>
                <a:ext cx="1640676" cy="132397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Normal-only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ar-AE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acc>
                        </m:e>
                        <m:sub>
                          <m: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𝑛𝑜𝑟𝑚𝑎𝑙</m:t>
                          </m:r>
                        </m:sub>
                      </m:sSub>
                      <m:r>
                        <a:rPr lang="ar-AE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ar-AE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E69A1A3-FDEE-1C60-FD53-1EBBF322B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397" y="169542"/>
                <a:ext cx="1640676" cy="132397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9BEBBA-2F33-86BF-F301-8AEABA8B6942}"/>
              </a:ext>
            </a:extLst>
          </p:cNvPr>
          <p:cNvSpPr/>
          <p:nvPr/>
        </p:nvSpPr>
        <p:spPr>
          <a:xfrm>
            <a:off x="3912869" y="-59058"/>
            <a:ext cx="4733927" cy="257175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Inject five synthetic attack families: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DoS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Payload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Header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Flood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API Abuse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InsiderMimic</a:t>
            </a:r>
            <a:endParaRPr lang="en-PK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4C6792E-18EC-1B3A-3188-86E9C63C2556}"/>
                  </a:ext>
                </a:extLst>
              </p:cNvPr>
              <p:cNvSpPr/>
              <p:nvPr/>
            </p:nvSpPr>
            <p:spPr>
              <a:xfrm>
                <a:off x="9280206" y="431479"/>
                <a:ext cx="2147890" cy="1352550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latin typeface="Arial Narrow" panose="020B0606020202030204" pitchFamily="34" charset="0"/>
                  </a:rPr>
                  <a:t>Balanced supervised dataset: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a:rPr lang="ar-AE" sz="1600" b="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600" b="1" i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ar-AE" sz="1600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ar-AE" sz="1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 sz="16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4C6792E-18EC-1B3A-3188-86E9C63C2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206" y="431479"/>
                <a:ext cx="2147890" cy="135255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DE8D9057-8B8C-13D7-9B44-3CABA42E4FFB}"/>
              </a:ext>
            </a:extLst>
          </p:cNvPr>
          <p:cNvSpPr/>
          <p:nvPr/>
        </p:nvSpPr>
        <p:spPr>
          <a:xfrm rot="5400000">
            <a:off x="2935126" y="1593054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A310D46-1BA1-38A1-C2D8-223EEC3C5F42}"/>
              </a:ext>
            </a:extLst>
          </p:cNvPr>
          <p:cNvSpPr/>
          <p:nvPr/>
        </p:nvSpPr>
        <p:spPr>
          <a:xfrm>
            <a:off x="8711087" y="995835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EBE4B-8F45-C3BF-C0E8-45AFB9357919}"/>
              </a:ext>
            </a:extLst>
          </p:cNvPr>
          <p:cNvSpPr txBox="1"/>
          <p:nvPr/>
        </p:nvSpPr>
        <p:spPr>
          <a:xfrm>
            <a:off x="2384109" y="-199790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6178C-8655-B80C-5D46-A70D2478113B}"/>
              </a:ext>
            </a:extLst>
          </p:cNvPr>
          <p:cNvSpPr txBox="1"/>
          <p:nvPr/>
        </p:nvSpPr>
        <p:spPr>
          <a:xfrm>
            <a:off x="5508308" y="-384456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1A098-007D-BB03-195F-6C5EF1FC64BC}"/>
              </a:ext>
            </a:extLst>
          </p:cNvPr>
          <p:cNvSpPr txBox="1"/>
          <p:nvPr/>
        </p:nvSpPr>
        <p:spPr>
          <a:xfrm>
            <a:off x="9935051" y="-1512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6AC3D5-83C9-8771-3E27-8E10438E246B}"/>
              </a:ext>
            </a:extLst>
          </p:cNvPr>
          <p:cNvSpPr/>
          <p:nvPr/>
        </p:nvSpPr>
        <p:spPr>
          <a:xfrm>
            <a:off x="11723846" y="-849631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7DF8A3-25A3-643D-909A-BCFA19AEAA02}"/>
              </a:ext>
            </a:extLst>
          </p:cNvPr>
          <p:cNvSpPr/>
          <p:nvPr/>
        </p:nvSpPr>
        <p:spPr>
          <a:xfrm>
            <a:off x="13114497" y="-1249680"/>
            <a:ext cx="1733550" cy="8763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3.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505B8B5-77C5-202D-54DC-A22030AC2BE3}"/>
              </a:ext>
            </a:extLst>
          </p:cNvPr>
          <p:cNvSpPr/>
          <p:nvPr/>
        </p:nvSpPr>
        <p:spPr>
          <a:xfrm>
            <a:off x="14867098" y="-1068705"/>
            <a:ext cx="4381500" cy="51435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Train, Validation, And Test Partitioning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22040E8-86EC-ACF6-11EA-1C88A06D3345}"/>
                  </a:ext>
                </a:extLst>
              </p:cNvPr>
              <p:cNvSpPr/>
              <p:nvPr/>
            </p:nvSpPr>
            <p:spPr>
              <a:xfrm>
                <a:off x="13733620" y="-59058"/>
                <a:ext cx="4733927" cy="2571751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𝒕𝒓𝒂𝒊𝒏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𝑡𝑟𝑎𝑖𝑛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a:rPr lang="ar-AE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𝑣𝑎𝑙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𝑣𝑎𝑙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𝑡𝑒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22040E8-86EC-ACF6-11EA-1C88A06D33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3620" y="-59058"/>
                <a:ext cx="4733927" cy="257175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4D4BB73-0D8D-F755-6569-1BAEB19E77FE}"/>
                  </a:ext>
                </a:extLst>
              </p:cNvPr>
              <p:cNvSpPr/>
              <p:nvPr/>
            </p:nvSpPr>
            <p:spPr>
              <a:xfrm>
                <a:off x="19100957" y="431479"/>
                <a:ext cx="2147890" cy="135255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𝒕𝒓𝒂𝒊𝒏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302328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a:rPr lang="ar-AE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𝑣𝑎𝑙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53353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88921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4D4BB73-0D8D-F755-6569-1BAEB19E77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957" y="431479"/>
                <a:ext cx="2147890" cy="135255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Bent-Up 33">
            <a:extLst>
              <a:ext uri="{FF2B5EF4-FFF2-40B4-BE49-F238E27FC236}">
                <a16:creationId xmlns:a16="http://schemas.microsoft.com/office/drawing/2014/main" id="{B5C96A08-0CCA-7102-B38B-D34E7B5A5660}"/>
              </a:ext>
            </a:extLst>
          </p:cNvPr>
          <p:cNvSpPr/>
          <p:nvPr/>
        </p:nvSpPr>
        <p:spPr>
          <a:xfrm rot="5400000">
            <a:off x="12697009" y="1662843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5C88E77E-668D-1594-5EEF-DA1DF3F582A8}"/>
              </a:ext>
            </a:extLst>
          </p:cNvPr>
          <p:cNvSpPr/>
          <p:nvPr/>
        </p:nvSpPr>
        <p:spPr>
          <a:xfrm>
            <a:off x="18531838" y="995835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9FCCD3-5802-084D-6A17-DF7D0B0991B8}"/>
              </a:ext>
            </a:extLst>
          </p:cNvPr>
          <p:cNvSpPr txBox="1"/>
          <p:nvPr/>
        </p:nvSpPr>
        <p:spPr>
          <a:xfrm>
            <a:off x="12204860" y="-199790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CA069D-2C60-1C6A-48AB-F3F507706433}"/>
              </a:ext>
            </a:extLst>
          </p:cNvPr>
          <p:cNvSpPr txBox="1"/>
          <p:nvPr/>
        </p:nvSpPr>
        <p:spPr>
          <a:xfrm>
            <a:off x="15329059" y="-384456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1B0506-4635-0E0E-B8B5-22CEE8D8AD0E}"/>
              </a:ext>
            </a:extLst>
          </p:cNvPr>
          <p:cNvSpPr txBox="1"/>
          <p:nvPr/>
        </p:nvSpPr>
        <p:spPr>
          <a:xfrm>
            <a:off x="19755802" y="-1512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E60B63-5E44-F129-1E8F-132EC604A1BF}"/>
              </a:ext>
            </a:extLst>
          </p:cNvPr>
          <p:cNvSpPr/>
          <p:nvPr/>
        </p:nvSpPr>
        <p:spPr>
          <a:xfrm>
            <a:off x="-7907656" y="3103242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9D7E8B5-6E6D-C85B-4A54-743ACE7FA2FF}"/>
              </a:ext>
            </a:extLst>
          </p:cNvPr>
          <p:cNvSpPr/>
          <p:nvPr/>
        </p:nvSpPr>
        <p:spPr>
          <a:xfrm>
            <a:off x="-6517005" y="2703193"/>
            <a:ext cx="1733550" cy="8763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4.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E3F955A-36D0-633B-D775-A246D38B5D97}"/>
              </a:ext>
            </a:extLst>
          </p:cNvPr>
          <p:cNvSpPr/>
          <p:nvPr/>
        </p:nvSpPr>
        <p:spPr>
          <a:xfrm>
            <a:off x="-4764404" y="2884168"/>
            <a:ext cx="4381500" cy="51435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Hypergraph Contextual Augmentation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982EF99-BCB8-4676-7A9C-A7E61277BF2F}"/>
                  </a:ext>
                </a:extLst>
              </p:cNvPr>
              <p:cNvSpPr/>
              <p:nvPr/>
            </p:nvSpPr>
            <p:spPr>
              <a:xfrm>
                <a:off x="-7793354" y="4122415"/>
                <a:ext cx="1524001" cy="102636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Each request sample: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ar-AE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982EF99-BCB8-4676-7A9C-A7E61277B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93354" y="4122415"/>
                <a:ext cx="1524001" cy="102636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93DBB23-083E-E700-F14A-28283A1CCEAD}"/>
                  </a:ext>
                </a:extLst>
              </p:cNvPr>
              <p:cNvSpPr/>
              <p:nvPr/>
            </p:nvSpPr>
            <p:spPr>
              <a:xfrm>
                <a:off x="-6119554" y="3798567"/>
                <a:ext cx="4971078" cy="2666999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b="1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Context keys used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Compute group statistics for: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 err="1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src_ip</a:t>
                </a: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path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method 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For each key, add: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group mean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group standard deviation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group max 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So, each key contributes </a:t>
                </a:r>
                <a:r>
                  <a:rPr lang="en-US" sz="1600" b="1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3 features</a:t>
                </a: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, and 3 keys contribute: </a:t>
                </a:r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93DBB23-083E-E700-F14A-28283A1CC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9554" y="3798567"/>
                <a:ext cx="4971078" cy="2666999"/>
              </a:xfrm>
              <a:prstGeom prst="roundRect">
                <a:avLst/>
              </a:prstGeom>
              <a:blipFill>
                <a:blip r:embed="rId9"/>
                <a:stretch>
                  <a:fillRect t="-2494" b="-68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302F9C08-4FF5-964F-E7E7-F6F21DC19A21}"/>
                  </a:ext>
                </a:extLst>
              </p:cNvPr>
              <p:cNvSpPr/>
              <p:nvPr/>
            </p:nvSpPr>
            <p:spPr>
              <a:xfrm>
                <a:off x="-515066" y="3508052"/>
                <a:ext cx="2147890" cy="164568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latin typeface="Arial Narrow" panose="020B0606020202030204" pitchFamily="34" charset="0"/>
                  </a:rPr>
                  <a:t>Hypergraph-augmented vector: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ar-AE" sz="16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6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16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ar-AE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1" i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ar-AE" sz="16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600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27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:r>
                  <a:rPr lang="en-US" sz="1600" dirty="0">
                    <a:latin typeface="Arial Narrow" panose="020B0606020202030204" pitchFamily="34" charset="0"/>
                  </a:rPr>
                  <a:t>because: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ar-AE" sz="16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ar-AE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302F9C08-4FF5-964F-E7E7-F6F21DC19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5066" y="3508052"/>
                <a:ext cx="2147890" cy="164568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9A66DA4D-6BA9-80BC-8716-D333BD40E2B5}"/>
              </a:ext>
            </a:extLst>
          </p:cNvPr>
          <p:cNvSpPr/>
          <p:nvPr/>
        </p:nvSpPr>
        <p:spPr>
          <a:xfrm rot="5400000">
            <a:off x="-6971825" y="5261529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FA6A8539-A2CC-6FFB-3AF1-7C7DCDF32F5F}"/>
              </a:ext>
            </a:extLst>
          </p:cNvPr>
          <p:cNvSpPr/>
          <p:nvPr/>
        </p:nvSpPr>
        <p:spPr>
          <a:xfrm>
            <a:off x="-1121097" y="4200768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CBBE05-01BC-11DA-C155-BCAFBA858E96}"/>
              </a:ext>
            </a:extLst>
          </p:cNvPr>
          <p:cNvSpPr txBox="1"/>
          <p:nvPr/>
        </p:nvSpPr>
        <p:spPr>
          <a:xfrm>
            <a:off x="-7426642" y="3753083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2FEE70-5306-297A-9E45-B84D1DF78695}"/>
              </a:ext>
            </a:extLst>
          </p:cNvPr>
          <p:cNvSpPr txBox="1"/>
          <p:nvPr/>
        </p:nvSpPr>
        <p:spPr>
          <a:xfrm>
            <a:off x="-4302443" y="3429872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A0BE0D-B817-ECC5-7085-73A8ADF1BEC2}"/>
              </a:ext>
            </a:extLst>
          </p:cNvPr>
          <p:cNvSpPr txBox="1"/>
          <p:nvPr/>
        </p:nvSpPr>
        <p:spPr>
          <a:xfrm>
            <a:off x="233835" y="305910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EC4F6F-85CA-3AB1-15A7-384581D80EE2}"/>
              </a:ext>
            </a:extLst>
          </p:cNvPr>
          <p:cNvSpPr/>
          <p:nvPr/>
        </p:nvSpPr>
        <p:spPr>
          <a:xfrm>
            <a:off x="1903095" y="3103242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EBE3BBC-0F99-4E2B-EE92-F6FB44DB3110}"/>
              </a:ext>
            </a:extLst>
          </p:cNvPr>
          <p:cNvSpPr/>
          <p:nvPr/>
        </p:nvSpPr>
        <p:spPr>
          <a:xfrm>
            <a:off x="3293746" y="2703193"/>
            <a:ext cx="1733550" cy="8763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6020202030204" pitchFamily="34" charset="0"/>
              </a:rPr>
              <a:t>Module 5.</a:t>
            </a:r>
            <a:endParaRPr lang="en-PK" sz="20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2A76755-85CE-3660-D766-650037E7C402}"/>
              </a:ext>
            </a:extLst>
          </p:cNvPr>
          <p:cNvSpPr/>
          <p:nvPr/>
        </p:nvSpPr>
        <p:spPr>
          <a:xfrm>
            <a:off x="5046347" y="2884168"/>
            <a:ext cx="4381500" cy="51435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6020202030204" pitchFamily="34" charset="0"/>
              </a:rPr>
              <a:t>Risk-Adaptive Encoder (RAE)</a:t>
            </a:r>
            <a:endParaRPr lang="en-PK" sz="20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BC34019-475F-F671-8C28-05F4FE5976CB}"/>
                  </a:ext>
                </a:extLst>
              </p:cNvPr>
              <p:cNvSpPr/>
              <p:nvPr/>
            </p:nvSpPr>
            <p:spPr>
              <a:xfrm>
                <a:off x="2017397" y="4122415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BC34019-475F-F671-8C28-05F4FE597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397" y="4122415"/>
                <a:ext cx="1524001" cy="52387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10BB617-D069-9601-EF0F-3FC827CA867F}"/>
              </a:ext>
            </a:extLst>
          </p:cNvPr>
          <p:cNvSpPr/>
          <p:nvPr/>
        </p:nvSpPr>
        <p:spPr>
          <a:xfrm>
            <a:off x="3729036" y="3908101"/>
            <a:ext cx="4982051" cy="257175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PK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5F42AE5-808A-D4A6-61A5-A4FEA7856A78}"/>
                  </a:ext>
                </a:extLst>
              </p:cNvPr>
              <p:cNvSpPr/>
              <p:nvPr/>
            </p:nvSpPr>
            <p:spPr>
              <a:xfrm>
                <a:off x="9280206" y="4384352"/>
                <a:ext cx="2147890" cy="1352550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5F42AE5-808A-D4A6-61A5-A4FEA7856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206" y="4384352"/>
                <a:ext cx="2147890" cy="135255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Bent-Up 66">
            <a:extLst>
              <a:ext uri="{FF2B5EF4-FFF2-40B4-BE49-F238E27FC236}">
                <a16:creationId xmlns:a16="http://schemas.microsoft.com/office/drawing/2014/main" id="{5548FA65-41C8-A374-95B2-F335D34503CB}"/>
              </a:ext>
            </a:extLst>
          </p:cNvPr>
          <p:cNvSpPr/>
          <p:nvPr/>
        </p:nvSpPr>
        <p:spPr>
          <a:xfrm rot="5400000">
            <a:off x="2860359" y="4927276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A89DAB13-859B-8A3E-B180-03327C27050F}"/>
              </a:ext>
            </a:extLst>
          </p:cNvPr>
          <p:cNvSpPr/>
          <p:nvPr/>
        </p:nvSpPr>
        <p:spPr>
          <a:xfrm>
            <a:off x="8753290" y="4934640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D7800F-F6F1-3C1B-0540-935BBBB7B812}"/>
              </a:ext>
            </a:extLst>
          </p:cNvPr>
          <p:cNvSpPr txBox="1"/>
          <p:nvPr/>
        </p:nvSpPr>
        <p:spPr>
          <a:xfrm>
            <a:off x="2384109" y="3753083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9061A0-7663-43F2-6A41-5CA77A59600A}"/>
              </a:ext>
            </a:extLst>
          </p:cNvPr>
          <p:cNvSpPr txBox="1"/>
          <p:nvPr/>
        </p:nvSpPr>
        <p:spPr>
          <a:xfrm>
            <a:off x="5508308" y="3568417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0E06EE-0954-B982-0D6D-A89140443CAE}"/>
              </a:ext>
            </a:extLst>
          </p:cNvPr>
          <p:cNvSpPr txBox="1"/>
          <p:nvPr/>
        </p:nvSpPr>
        <p:spPr>
          <a:xfrm>
            <a:off x="9935051" y="3937749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5DCD0F7-DBAB-097C-E4C6-E8FF0B94BE19}"/>
              </a:ext>
            </a:extLst>
          </p:cNvPr>
          <p:cNvSpPr/>
          <p:nvPr/>
        </p:nvSpPr>
        <p:spPr>
          <a:xfrm>
            <a:off x="11723846" y="3103242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93ACE7B-EC74-A5EE-5986-1B562D8F185A}"/>
              </a:ext>
            </a:extLst>
          </p:cNvPr>
          <p:cNvSpPr/>
          <p:nvPr/>
        </p:nvSpPr>
        <p:spPr>
          <a:xfrm>
            <a:off x="13114497" y="2703193"/>
            <a:ext cx="1733550" cy="8763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6020202030204" pitchFamily="34" charset="0"/>
              </a:rPr>
              <a:t>Module 6.</a:t>
            </a:r>
            <a:endParaRPr lang="en-PK" sz="20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D1CE368-55FF-9DDE-3056-C51A097E7DC5}"/>
              </a:ext>
            </a:extLst>
          </p:cNvPr>
          <p:cNvSpPr/>
          <p:nvPr/>
        </p:nvSpPr>
        <p:spPr>
          <a:xfrm>
            <a:off x="14867098" y="2884168"/>
            <a:ext cx="4381500" cy="5143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6020202030204" pitchFamily="34" charset="0"/>
              </a:rPr>
              <a:t>Attention-based Risk Weighting (ARW)</a:t>
            </a:r>
            <a:endParaRPr lang="en-PK" sz="20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01887B15-9C1E-A4B6-4765-00AFF2674BA5}"/>
                  </a:ext>
                </a:extLst>
              </p:cNvPr>
              <p:cNvSpPr/>
              <p:nvPr/>
            </p:nvSpPr>
            <p:spPr>
              <a:xfrm>
                <a:off x="11838148" y="4122415"/>
                <a:ext cx="1524001" cy="523875"/>
              </a:xfrm>
              <a:prstGeom prst="roundRect">
                <a:avLst/>
              </a:prstGeom>
              <a:solidFill>
                <a:srgbClr val="FFFFCC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01887B15-9C1E-A4B6-4765-00AFF2674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8148" y="4122415"/>
                <a:ext cx="1524001" cy="52387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1374BFB3-1F64-FC3F-C663-3BA0DFBD0293}"/>
                  </a:ext>
                </a:extLst>
              </p:cNvPr>
              <p:cNvSpPr/>
              <p:nvPr/>
            </p:nvSpPr>
            <p:spPr>
              <a:xfrm>
                <a:off x="13733620" y="3893815"/>
                <a:ext cx="4733927" cy="2571751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Attention tensors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Attention logits: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Risk weights: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Refined representation: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1374BFB3-1F64-FC3F-C663-3BA0DFBD02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3620" y="3893815"/>
                <a:ext cx="4733927" cy="2571751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9A289B4-A3B8-5C2D-4CBB-DFA9B816C2DB}"/>
                  </a:ext>
                </a:extLst>
              </p:cNvPr>
              <p:cNvSpPr/>
              <p:nvPr/>
            </p:nvSpPr>
            <p:spPr>
              <a:xfrm>
                <a:off x="19100957" y="4384352"/>
                <a:ext cx="2147890" cy="1352550"/>
              </a:xfrm>
              <a:prstGeom prst="roundRect">
                <a:avLst/>
              </a:prstGeom>
              <a:solidFill>
                <a:srgbClr val="FFFF66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9A289B4-A3B8-5C2D-4CBB-DFA9B816C2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957" y="4384352"/>
                <a:ext cx="2147890" cy="135255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row: Bent-Up 77">
            <a:extLst>
              <a:ext uri="{FF2B5EF4-FFF2-40B4-BE49-F238E27FC236}">
                <a16:creationId xmlns:a16="http://schemas.microsoft.com/office/drawing/2014/main" id="{C9FA3162-276D-D1AA-33FD-57449BC38004}"/>
              </a:ext>
            </a:extLst>
          </p:cNvPr>
          <p:cNvSpPr/>
          <p:nvPr/>
        </p:nvSpPr>
        <p:spPr>
          <a:xfrm rot="5400000">
            <a:off x="12681110" y="4927276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037DD8DF-6F2D-CE0D-B605-C27541FD9AFD}"/>
              </a:ext>
            </a:extLst>
          </p:cNvPr>
          <p:cNvSpPr/>
          <p:nvPr/>
        </p:nvSpPr>
        <p:spPr>
          <a:xfrm>
            <a:off x="18531838" y="4948708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CDDB5C-8E6D-F69C-F3D0-12545C5A55FD}"/>
              </a:ext>
            </a:extLst>
          </p:cNvPr>
          <p:cNvSpPr txBox="1"/>
          <p:nvPr/>
        </p:nvSpPr>
        <p:spPr>
          <a:xfrm>
            <a:off x="12204860" y="3753083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B92CB7-9EAA-54BF-C9B5-1FAF85EFF7C1}"/>
              </a:ext>
            </a:extLst>
          </p:cNvPr>
          <p:cNvSpPr txBox="1"/>
          <p:nvPr/>
        </p:nvSpPr>
        <p:spPr>
          <a:xfrm>
            <a:off x="15329059" y="3568417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467B1F-6784-1C9E-1FD4-EFB62D194CBF}"/>
              </a:ext>
            </a:extLst>
          </p:cNvPr>
          <p:cNvSpPr txBox="1"/>
          <p:nvPr/>
        </p:nvSpPr>
        <p:spPr>
          <a:xfrm>
            <a:off x="19755802" y="3937749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3F5EC7D-53E6-674F-F8CF-23CE47C94D42}"/>
              </a:ext>
            </a:extLst>
          </p:cNvPr>
          <p:cNvSpPr/>
          <p:nvPr/>
        </p:nvSpPr>
        <p:spPr>
          <a:xfrm>
            <a:off x="-3654746" y="7279409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B7B334F-2E56-D9D2-2102-3B9F62EC767D}"/>
              </a:ext>
            </a:extLst>
          </p:cNvPr>
          <p:cNvSpPr/>
          <p:nvPr/>
        </p:nvSpPr>
        <p:spPr>
          <a:xfrm>
            <a:off x="-2264095" y="6670352"/>
            <a:ext cx="1733550" cy="8763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7.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438D38A-DE01-7AC3-4910-5107DBCFD430}"/>
              </a:ext>
            </a:extLst>
          </p:cNvPr>
          <p:cNvSpPr/>
          <p:nvPr/>
        </p:nvSpPr>
        <p:spPr>
          <a:xfrm>
            <a:off x="-511494" y="7060335"/>
            <a:ext cx="4381500" cy="5143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Supervised Variational Latent Layer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D142F230-A549-F6FC-4AA4-9085F8218472}"/>
                  </a:ext>
                </a:extLst>
              </p:cNvPr>
              <p:cNvSpPr/>
              <p:nvPr/>
            </p:nvSpPr>
            <p:spPr>
              <a:xfrm>
                <a:off x="-3509488" y="8298582"/>
                <a:ext cx="1733549" cy="1223961"/>
              </a:xfrm>
              <a:prstGeom prst="roundRect">
                <a:avLst/>
              </a:prstGeom>
              <a:solidFill>
                <a:srgbClr val="FF9966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latin typeface="Arial Narrow" panose="020B0606020202030204" pitchFamily="34" charset="0"/>
                  </a:rPr>
                  <a:t>Attention-refined representation: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600" b="0" i="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D142F230-A549-F6FC-4AA4-9085F8218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09488" y="8298582"/>
                <a:ext cx="1733549" cy="1223961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EE9E090-B7F2-2C17-8BB9-B593CF0BE26F}"/>
              </a:ext>
            </a:extLst>
          </p:cNvPr>
          <p:cNvSpPr/>
          <p:nvPr/>
        </p:nvSpPr>
        <p:spPr>
          <a:xfrm>
            <a:off x="-1644972" y="8069982"/>
            <a:ext cx="4733927" cy="2571751"/>
          </a:xfrm>
          <a:prstGeom prst="roundRect">
            <a:avLst/>
          </a:prstGeom>
          <a:solidFill>
            <a:srgbClr val="CC66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PK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A38F988D-D4E6-48AE-699D-F9C1F4F902E5}"/>
                  </a:ext>
                </a:extLst>
              </p:cNvPr>
              <p:cNvSpPr/>
              <p:nvPr/>
            </p:nvSpPr>
            <p:spPr>
              <a:xfrm>
                <a:off x="3722365" y="8560519"/>
                <a:ext cx="2147890" cy="1352550"/>
              </a:xfrm>
              <a:prstGeom prst="roundRect">
                <a:avLst/>
              </a:prstGeom>
              <a:solidFill>
                <a:srgbClr val="CC0000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Arial Narrow" panose="020B0606020202030204" pitchFamily="34" charset="0"/>
                  </a:rPr>
                  <a:t>Latent vector: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A38F988D-D4E6-48AE-699D-F9C1F4F9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365" y="8560519"/>
                <a:ext cx="2147890" cy="1352550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Arrow: Bent-Up 88">
            <a:extLst>
              <a:ext uri="{FF2B5EF4-FFF2-40B4-BE49-F238E27FC236}">
                <a16:creationId xmlns:a16="http://schemas.microsoft.com/office/drawing/2014/main" id="{6F89B74A-B0EC-D387-3ACF-E01C0AF9EBF6}"/>
              </a:ext>
            </a:extLst>
          </p:cNvPr>
          <p:cNvSpPr/>
          <p:nvPr/>
        </p:nvSpPr>
        <p:spPr>
          <a:xfrm rot="5400000">
            <a:off x="-2597467" y="9629483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2826E8C3-5033-C3FE-DE79-A45214AE2D1C}"/>
              </a:ext>
            </a:extLst>
          </p:cNvPr>
          <p:cNvSpPr/>
          <p:nvPr/>
        </p:nvSpPr>
        <p:spPr>
          <a:xfrm>
            <a:off x="3153246" y="9124875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83BE06-FBF2-BDEF-B1B6-2BF5C4211AFF}"/>
              </a:ext>
            </a:extLst>
          </p:cNvPr>
          <p:cNvSpPr txBox="1"/>
          <p:nvPr/>
        </p:nvSpPr>
        <p:spPr>
          <a:xfrm>
            <a:off x="-3173732" y="7929250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E47B4F-8030-48E8-8C82-D992524198ED}"/>
              </a:ext>
            </a:extLst>
          </p:cNvPr>
          <p:cNvSpPr txBox="1"/>
          <p:nvPr/>
        </p:nvSpPr>
        <p:spPr>
          <a:xfrm>
            <a:off x="-49533" y="7744584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51475C-2766-E5EC-409E-CC1216F0232C}"/>
              </a:ext>
            </a:extLst>
          </p:cNvPr>
          <p:cNvSpPr txBox="1"/>
          <p:nvPr/>
        </p:nvSpPr>
        <p:spPr>
          <a:xfrm>
            <a:off x="4377210" y="8113916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BBF02C8-DEAA-A216-01D2-94CACF9606AE}"/>
              </a:ext>
            </a:extLst>
          </p:cNvPr>
          <p:cNvSpPr/>
          <p:nvPr/>
        </p:nvSpPr>
        <p:spPr>
          <a:xfrm>
            <a:off x="6166005" y="7279409"/>
            <a:ext cx="9620251" cy="3457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59AA4EC-72AD-291F-106F-51B31BCB7453}"/>
              </a:ext>
            </a:extLst>
          </p:cNvPr>
          <p:cNvSpPr/>
          <p:nvPr/>
        </p:nvSpPr>
        <p:spPr>
          <a:xfrm>
            <a:off x="7556656" y="6827108"/>
            <a:ext cx="1733550" cy="876300"/>
          </a:xfrm>
          <a:prstGeom prst="ellipse">
            <a:avLst/>
          </a:prstGeom>
          <a:solidFill>
            <a:srgbClr val="FF00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Module 8.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631D841-78F9-DD55-1826-F578A516B4FB}"/>
              </a:ext>
            </a:extLst>
          </p:cNvPr>
          <p:cNvSpPr/>
          <p:nvPr/>
        </p:nvSpPr>
        <p:spPr>
          <a:xfrm>
            <a:off x="9309257" y="7060335"/>
            <a:ext cx="4381500" cy="514350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Narrow" panose="020B0606020202030204" pitchFamily="34" charset="0"/>
              </a:rPr>
              <a:t>Classification Head</a:t>
            </a:r>
            <a:endParaRPr lang="en-PK" sz="2000" b="1" dirty="0">
              <a:latin typeface="Arial Narrow" panose="020B0606020202030204" pitchFamily="34" charset="0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1A8D9F4-039D-33A9-B763-DF34CCEA4E84}"/>
              </a:ext>
            </a:extLst>
          </p:cNvPr>
          <p:cNvSpPr/>
          <p:nvPr/>
        </p:nvSpPr>
        <p:spPr>
          <a:xfrm>
            <a:off x="6280307" y="8298582"/>
            <a:ext cx="1524001" cy="523875"/>
          </a:xfrm>
          <a:prstGeom prst="roundRect">
            <a:avLst/>
          </a:prstGeom>
          <a:solidFill>
            <a:srgbClr val="FF99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X</a:t>
            </a: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</a:rPr>
              <a:t>raw</a:t>
            </a:r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∈</a:t>
            </a:r>
            <a:r>
              <a:rPr lang="en-US" sz="1100" dirty="0">
                <a:solidFill>
                  <a:schemeClr val="tx1"/>
                </a:solidFill>
                <a:latin typeface="Arial Narrow" panose="020B0606020202030204" pitchFamily="34" charset="0"/>
              </a:rPr>
              <a:t>RN×17</a:t>
            </a:r>
            <a:endParaRPr lang="en-PK" sz="16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DB55B708-CFA1-2EA6-FE50-DA16FEBCBEE4}"/>
              </a:ext>
            </a:extLst>
          </p:cNvPr>
          <p:cNvSpPr/>
          <p:nvPr/>
        </p:nvSpPr>
        <p:spPr>
          <a:xfrm>
            <a:off x="7975279" y="8069982"/>
            <a:ext cx="4934427" cy="2571751"/>
          </a:xfrm>
          <a:prstGeom prst="roundRect">
            <a:avLst/>
          </a:prstGeom>
          <a:solidFill>
            <a:srgbClr val="FF339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PK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F66BE50-2A2B-67A7-C3C5-DF1B192470C7}"/>
              </a:ext>
            </a:extLst>
          </p:cNvPr>
          <p:cNvSpPr/>
          <p:nvPr/>
        </p:nvSpPr>
        <p:spPr>
          <a:xfrm>
            <a:off x="13543116" y="8560519"/>
            <a:ext cx="2147890" cy="56435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atin typeface="Arial Narrow" panose="020B0606020202030204" pitchFamily="34" charset="0"/>
              </a:rPr>
              <a:t>Normal</a:t>
            </a:r>
            <a:endParaRPr lang="ar-AE" b="0" dirty="0">
              <a:latin typeface="Arial Narrow" panose="020B0606020202030204" pitchFamily="34" charset="0"/>
            </a:endParaRPr>
          </a:p>
        </p:txBody>
      </p:sp>
      <p:sp>
        <p:nvSpPr>
          <p:cNvPr id="100" name="Arrow: Bent-Up 99">
            <a:extLst>
              <a:ext uri="{FF2B5EF4-FFF2-40B4-BE49-F238E27FC236}">
                <a16:creationId xmlns:a16="http://schemas.microsoft.com/office/drawing/2014/main" id="{31D43E07-56D9-0CA2-0760-87D05569FEA7}"/>
              </a:ext>
            </a:extLst>
          </p:cNvPr>
          <p:cNvSpPr/>
          <p:nvPr/>
        </p:nvSpPr>
        <p:spPr>
          <a:xfrm rot="5400000">
            <a:off x="7123269" y="9103443"/>
            <a:ext cx="781050" cy="733425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A7895C8C-9774-5A1F-2E42-2A1E64518093}"/>
              </a:ext>
            </a:extLst>
          </p:cNvPr>
          <p:cNvSpPr/>
          <p:nvPr/>
        </p:nvSpPr>
        <p:spPr>
          <a:xfrm>
            <a:off x="12973997" y="9124875"/>
            <a:ext cx="504827" cy="461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Arial Narrow" panose="020B0606020202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A7EDBBD-767C-1CF3-BD4D-B3DEF56D1F70}"/>
              </a:ext>
            </a:extLst>
          </p:cNvPr>
          <p:cNvSpPr txBox="1"/>
          <p:nvPr/>
        </p:nvSpPr>
        <p:spPr>
          <a:xfrm>
            <a:off x="6647019" y="7929250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722B1B-B897-BD64-42EF-DFA3ADDC33D6}"/>
              </a:ext>
            </a:extLst>
          </p:cNvPr>
          <p:cNvSpPr txBox="1"/>
          <p:nvPr/>
        </p:nvSpPr>
        <p:spPr>
          <a:xfrm>
            <a:off x="9771218" y="7744584"/>
            <a:ext cx="140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Operations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8FEE0A6-728F-81BF-16C3-7054DF79A388}"/>
              </a:ext>
            </a:extLst>
          </p:cNvPr>
          <p:cNvSpPr txBox="1"/>
          <p:nvPr/>
        </p:nvSpPr>
        <p:spPr>
          <a:xfrm>
            <a:off x="14197961" y="8113916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25C6CA4F-8914-508B-64CC-95597A7C089B}"/>
                  </a:ext>
                </a:extLst>
              </p:cNvPr>
              <p:cNvSpPr/>
              <p:nvPr/>
            </p:nvSpPr>
            <p:spPr>
              <a:xfrm>
                <a:off x="11904820" y="195739"/>
                <a:ext cx="1733550" cy="135255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Balanced supervised dataset: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</m:oMath>
                  </m:oMathPara>
                </a14:m>
                <a:endParaRPr lang="ar-AE" sz="1600" b="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25C6CA4F-8914-508B-64CC-95597A7C08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820" y="195739"/>
                <a:ext cx="1733550" cy="135255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848D8C37-F097-E3A0-13EF-10FE7CF4E717}"/>
              </a:ext>
            </a:extLst>
          </p:cNvPr>
          <p:cNvSpPr txBox="1"/>
          <p:nvPr/>
        </p:nvSpPr>
        <p:spPr>
          <a:xfrm>
            <a:off x="-7907657" y="6553835"/>
            <a:ext cx="6067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rial Narrow" panose="020B0606020202030204" pitchFamily="34" charset="0"/>
              </a:rPr>
              <a:t>It is a hypergraph-inspired contextual statistics augmentation layer.</a:t>
            </a:r>
            <a:endParaRPr lang="en-PK" sz="1600" i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9AE47333-0799-0304-6FFA-D0A021224BE2}"/>
                  </a:ext>
                </a:extLst>
              </p:cNvPr>
              <p:cNvSpPr/>
              <p:nvPr/>
            </p:nvSpPr>
            <p:spPr>
              <a:xfrm>
                <a:off x="-501678" y="5305671"/>
                <a:ext cx="2147890" cy="1201824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 Narrow" panose="020B0606020202030204" pitchFamily="34" charset="0"/>
                  </a:rPr>
                  <a:t>Batch shapes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ar-AE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ar-AE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  <m:sup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kumimoji="0" lang="ar-AE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302328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27</m:t>
                          </m:r>
                        </m:sup>
                      </m:sSup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ar-AE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ar-AE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𝑣𝑎𝑙</m:t>
                          </m:r>
                        </m:sub>
                        <m:sup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kumimoji="0" lang="ar-AE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53353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27</m:t>
                          </m:r>
                        </m:sup>
                      </m:sSup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ar-AE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ar-AE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  <m:sup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kumimoji="0" lang="ar-AE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88921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27</m:t>
                          </m:r>
                        </m:sup>
                      </m:sSup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9AE47333-0799-0304-6FFA-D0A021224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1678" y="5305671"/>
                <a:ext cx="2147890" cy="1201824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9E697F2-DC15-C785-63F0-DC6AADE3404C}"/>
              </a:ext>
            </a:extLst>
          </p:cNvPr>
          <p:cNvCxnSpPr>
            <a:cxnSpLocks/>
          </p:cNvCxnSpPr>
          <p:nvPr/>
        </p:nvCxnSpPr>
        <p:spPr>
          <a:xfrm>
            <a:off x="544811" y="5153732"/>
            <a:ext cx="13388" cy="1519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4855BC23-9675-3ADE-4154-9DDEB6DE0F3C}"/>
                  </a:ext>
                </a:extLst>
              </p:cNvPr>
              <p:cNvSpPr/>
              <p:nvPr/>
            </p:nvSpPr>
            <p:spPr>
              <a:xfrm>
                <a:off x="3861068" y="4200768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4855BC23-9675-3ADE-4154-9DDEB6DE0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068" y="4200768"/>
                <a:ext cx="1524001" cy="523875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C0DFC1F2-C8A8-A4D4-2D57-43B95F787E35}"/>
                  </a:ext>
                </a:extLst>
              </p:cNvPr>
              <p:cNvSpPr/>
              <p:nvPr/>
            </p:nvSpPr>
            <p:spPr>
              <a:xfrm>
                <a:off x="5448775" y="4185394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𝑩𝒂𝒕𝒄𝒉𝑵𝒐𝒓𝒎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C0DFC1F2-C8A8-A4D4-2D57-43B95F787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775" y="4185394"/>
                <a:ext cx="1524001" cy="52387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1B97546F-F178-58B3-D35E-883140E392C0}"/>
                  </a:ext>
                </a:extLst>
              </p:cNvPr>
              <p:cNvSpPr/>
              <p:nvPr/>
            </p:nvSpPr>
            <p:spPr>
              <a:xfrm>
                <a:off x="7063024" y="4200768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𝑫𝒓𝒐𝒑𝒐𝒖𝒕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1B97546F-F178-58B3-D35E-883140E39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24" y="4200768"/>
                <a:ext cx="1524001" cy="523875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D2F3996B-4547-5944-D34A-732CD7125209}"/>
                  </a:ext>
                </a:extLst>
              </p:cNvPr>
              <p:cNvSpPr/>
              <p:nvPr/>
            </p:nvSpPr>
            <p:spPr>
              <a:xfrm>
                <a:off x="3861424" y="4804204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𝟏𝟐𝟖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D2F3996B-4547-5944-D34A-732CD7125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424" y="4804204"/>
                <a:ext cx="1524001" cy="523875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CDA8B15F-F4C4-3CD8-FF60-1DBA4094390D}"/>
                  </a:ext>
                </a:extLst>
              </p:cNvPr>
              <p:cNvSpPr/>
              <p:nvPr/>
            </p:nvSpPr>
            <p:spPr>
              <a:xfrm>
                <a:off x="5449131" y="4788830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𝑩𝒂𝒕𝒄𝒉𝑵𝒐𝒓𝒎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CDA8B15F-F4C4-3CD8-FF60-1DBA409439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131" y="4788830"/>
                <a:ext cx="1524001" cy="52387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3D647054-7664-1D88-702B-EA037ADB7AA4}"/>
                  </a:ext>
                </a:extLst>
              </p:cNvPr>
              <p:cNvSpPr/>
              <p:nvPr/>
            </p:nvSpPr>
            <p:spPr>
              <a:xfrm>
                <a:off x="7063380" y="4804204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𝑫𝒓𝒐𝒑𝒐𝒖𝒕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3D647054-7664-1D88-702B-EA037ADB7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80" y="4804204"/>
                <a:ext cx="1524001" cy="523875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39E874AB-6B6F-9883-3FA6-99F321CFC70D}"/>
                  </a:ext>
                </a:extLst>
              </p:cNvPr>
              <p:cNvSpPr/>
              <p:nvPr/>
            </p:nvSpPr>
            <p:spPr>
              <a:xfrm>
                <a:off x="3855831" y="5411978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39E874AB-6B6F-9883-3FA6-99F321CFC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831" y="5411978"/>
                <a:ext cx="1524001" cy="523875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E90EAE85-E0A7-E493-7D3D-D4EBA88946BF}"/>
                  </a:ext>
                </a:extLst>
              </p:cNvPr>
              <p:cNvSpPr/>
              <p:nvPr/>
            </p:nvSpPr>
            <p:spPr>
              <a:xfrm>
                <a:off x="5443538" y="5396604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𝑩𝒂𝒕𝒄𝒉𝑵𝒐𝒓𝒎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E90EAE85-E0A7-E493-7D3D-D4EBA8894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538" y="5396604"/>
                <a:ext cx="1524001" cy="52387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1C193E65-F012-71E0-FB95-C6D7E55A46C9}"/>
                  </a:ext>
                </a:extLst>
              </p:cNvPr>
              <p:cNvSpPr/>
              <p:nvPr/>
            </p:nvSpPr>
            <p:spPr>
              <a:xfrm>
                <a:off x="7057787" y="5411978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𝑫𝒓𝒐𝒑𝒐𝒖𝒕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1C193E65-F012-71E0-FB95-C6D7E55A46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87" y="5411978"/>
                <a:ext cx="1524001" cy="523875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05DA6715-D575-EA3A-EB6F-515A84CDAFE9}"/>
              </a:ext>
            </a:extLst>
          </p:cNvPr>
          <p:cNvSpPr txBox="1"/>
          <p:nvPr/>
        </p:nvSpPr>
        <p:spPr>
          <a:xfrm>
            <a:off x="4880381" y="6047215"/>
            <a:ext cx="279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 Narrow" panose="020B0606020202030204" pitchFamily="34" charset="0"/>
              </a:rPr>
              <a:t>R27→R256→R128→R64</a:t>
            </a:r>
            <a:endParaRPr lang="en-PK" sz="1600" dirty="0">
              <a:latin typeface="Arial Narrow" panose="020B060602020203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55DB53E-ECA1-8223-5A07-3B23BB51D4F1}"/>
              </a:ext>
            </a:extLst>
          </p:cNvPr>
          <p:cNvSpPr txBox="1"/>
          <p:nvPr/>
        </p:nvSpPr>
        <p:spPr>
          <a:xfrm>
            <a:off x="334143" y="6539856"/>
            <a:ext cx="8671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rial Narrow" panose="020B0606020202030204" pitchFamily="34" charset="0"/>
              </a:rPr>
              <a:t>This block learns compressed nonlinear request representations before weighting and latent sampling.</a:t>
            </a:r>
            <a:endParaRPr lang="en-PK" sz="1600" i="1" dirty="0">
              <a:latin typeface="Arial Narrow" panose="020B0606020202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110B8D8-54A9-69F0-1214-3DF46BBD3921}"/>
              </a:ext>
            </a:extLst>
          </p:cNvPr>
          <p:cNvSpPr txBox="1"/>
          <p:nvPr/>
        </p:nvSpPr>
        <p:spPr>
          <a:xfrm>
            <a:off x="11523346" y="6532808"/>
            <a:ext cx="7292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rial Narrow" panose="020B0606020202030204" pitchFamily="34" charset="0"/>
              </a:rPr>
              <a:t>It reweights the 64 encoder channels.</a:t>
            </a:r>
            <a:endParaRPr lang="en-PK" sz="1600" i="1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2867EE44-4756-ADED-0DA4-9067BAE831B3}"/>
                  </a:ext>
                </a:extLst>
              </p:cNvPr>
              <p:cNvSpPr/>
              <p:nvPr/>
            </p:nvSpPr>
            <p:spPr>
              <a:xfrm>
                <a:off x="-1356838" y="8221310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2867EE44-4756-ADED-0DA4-9067BAE83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6838" y="8221310"/>
                <a:ext cx="1524001" cy="523875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D8A71CB5-8FF8-C656-ECC9-AA94A223AA44}"/>
                  </a:ext>
                </a:extLst>
              </p:cNvPr>
              <p:cNvSpPr/>
              <p:nvPr/>
            </p:nvSpPr>
            <p:spPr>
              <a:xfrm>
                <a:off x="1073391" y="8194975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D8A71CB5-8FF8-C656-ECC9-AA94A223A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91" y="8194975"/>
                <a:ext cx="1524001" cy="523875"/>
              </a:xfrm>
              <a:prstGeom prst="round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5A67D6CE-19F4-03EF-4697-91DF418A0078}"/>
                  </a:ext>
                </a:extLst>
              </p:cNvPr>
              <p:cNvSpPr/>
              <p:nvPr/>
            </p:nvSpPr>
            <p:spPr>
              <a:xfrm>
                <a:off x="-1410248" y="8842870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5A67D6CE-19F4-03EF-4697-91DF418A0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10248" y="8842870"/>
                <a:ext cx="1524001" cy="523875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2B04E520-E9EA-8B9A-8F65-260B52A90FA2}"/>
                  </a:ext>
                </a:extLst>
              </p:cNvPr>
              <p:cNvSpPr/>
              <p:nvPr/>
            </p:nvSpPr>
            <p:spPr>
              <a:xfrm>
                <a:off x="1073391" y="8780893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2B04E520-E9EA-8B9A-8F65-260B52A90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91" y="8780893"/>
                <a:ext cx="1524001" cy="523875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36FF5927-DFBB-889D-F955-20A0E2638636}"/>
              </a:ext>
            </a:extLst>
          </p:cNvPr>
          <p:cNvCxnSpPr>
            <a:cxnSpLocks/>
            <a:stCxn id="132" idx="1"/>
            <a:endCxn id="134" idx="1"/>
          </p:cNvCxnSpPr>
          <p:nvPr/>
        </p:nvCxnSpPr>
        <p:spPr>
          <a:xfrm rot="10800000" flipV="1">
            <a:off x="-1410248" y="8483248"/>
            <a:ext cx="53410" cy="621560"/>
          </a:xfrm>
          <a:prstGeom prst="bentConnector3">
            <a:avLst>
              <a:gd name="adj1" fmla="val 36997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F79EF2F1-DF15-046C-B55F-0D20F0B5AA3C}"/>
              </a:ext>
            </a:extLst>
          </p:cNvPr>
          <p:cNvCxnSpPr>
            <a:stCxn id="133" idx="3"/>
            <a:endCxn id="135" idx="3"/>
          </p:cNvCxnSpPr>
          <p:nvPr/>
        </p:nvCxnSpPr>
        <p:spPr>
          <a:xfrm>
            <a:off x="2597392" y="8456913"/>
            <a:ext cx="12700" cy="58591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AFE63F4-C4F3-BC39-86D5-1B904CF351EF}"/>
                  </a:ext>
                </a:extLst>
              </p:cNvPr>
              <p:cNvSpPr txBox="1"/>
              <p:nvPr/>
            </p:nvSpPr>
            <p:spPr>
              <a:xfrm>
                <a:off x="-189639" y="9858947"/>
                <a:ext cx="1806984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sz="1100" b="1" dirty="0">
                    <a:latin typeface="Arial Narrow" panose="020B0606020202030204" pitchFamily="34" charset="0"/>
                  </a:rPr>
                  <a:t>Exact tensor flow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ar-AE" sz="1100" i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m:rPr>
                          <m:nor/>
                        </m:rPr>
                        <a:rPr lang="ar-AE" sz="1100" b="0" i="1">
                          <a:latin typeface="Arial Narrow" panose="020B0606020202030204" pitchFamily="34" charset="0"/>
                        </a:rPr>
                        <m:t>  </m:t>
                      </m:r>
                      <m:d>
                        <m:dPr>
                          <m:ctrlPr>
                            <a:rPr lang="ar-AE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ar-AE" sz="1100" i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m:rPr>
                          <m:nor/>
                        </m:rPr>
                        <a:rPr lang="ar-AE" sz="1100" b="0" i="1">
                          <a:latin typeface="Arial Narrow" panose="020B0606020202030204" pitchFamily="34" charset="0"/>
                        </a:rPr>
                        <m:t>  </m:t>
                      </m:r>
                      <m:d>
                        <m:dPr>
                          <m:ctrlPr>
                            <a:rPr lang="ar-AE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1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ar-AE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1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100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e>
                      </m:d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 i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ar-AE" sz="11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100" i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ar-AE" sz="11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e>
                      </m:d>
                      <m:r>
                        <a:rPr lang="ar-AE" sz="1100" i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</m:oMath>
                  </m:oMathPara>
                </a14:m>
                <a:endParaRPr lang="ar-AE" sz="11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AFE63F4-C4F3-BC39-86D5-1B904CF35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639" y="9858947"/>
                <a:ext cx="1806984" cy="769441"/>
              </a:xfrm>
              <a:prstGeom prst="rect">
                <a:avLst/>
              </a:prstGeom>
              <a:blipFill>
                <a:blip r:embed="rId28"/>
                <a:stretch>
                  <a:fillRect t="-7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3F16C11-80B9-33A3-61DE-E517EE02B0CA}"/>
                  </a:ext>
                </a:extLst>
              </p:cNvPr>
              <p:cNvSpPr txBox="1"/>
              <p:nvPr/>
            </p:nvSpPr>
            <p:spPr>
              <a:xfrm>
                <a:off x="-1517115" y="9337877"/>
                <a:ext cx="1844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3F16C11-80B9-33A3-61DE-E517EE02B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7115" y="9337877"/>
                <a:ext cx="1844556" cy="369332"/>
              </a:xfrm>
              <a:prstGeom prst="rect">
                <a:avLst/>
              </a:prstGeom>
              <a:blipFill>
                <a:blip r:embed="rId2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3D35202-FC42-5962-A276-5DEC4381B28D}"/>
                  </a:ext>
                </a:extLst>
              </p:cNvPr>
              <p:cNvSpPr txBox="1"/>
              <p:nvPr/>
            </p:nvSpPr>
            <p:spPr>
              <a:xfrm>
                <a:off x="1010757" y="9330375"/>
                <a:ext cx="1844556" cy="384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</m:oMath>
                  </m:oMathPara>
                </a14:m>
                <a:endParaRPr lang="ar-AE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3D35202-FC42-5962-A276-5DEC4381B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57" y="9330375"/>
                <a:ext cx="1844556" cy="384336"/>
              </a:xfrm>
              <a:prstGeom prst="rect">
                <a:avLst/>
              </a:prstGeom>
              <a:blipFill>
                <a:blip r:embed="rId3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5474F995-2D45-FFFD-FBBD-43905A2C6F47}"/>
                  </a:ext>
                </a:extLst>
              </p:cNvPr>
              <p:cNvSpPr/>
              <p:nvPr/>
            </p:nvSpPr>
            <p:spPr>
              <a:xfrm>
                <a:off x="8079030" y="8223497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𝑬𝑳𝑼</m:t>
                      </m:r>
                      <m:r>
                        <a:rPr lang="en-US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5474F995-2D45-FFFD-FBBD-43905A2C6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030" y="8223497"/>
                <a:ext cx="1524001" cy="523875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Rectangle: Rounded Corners 153">
                <a:extLst>
                  <a:ext uri="{FF2B5EF4-FFF2-40B4-BE49-F238E27FC236}">
                    <a16:creationId xmlns:a16="http://schemas.microsoft.com/office/drawing/2014/main" id="{21B548F6-785E-9C97-6F8D-E68367D25131}"/>
                  </a:ext>
                </a:extLst>
              </p:cNvPr>
              <p:cNvSpPr/>
              <p:nvPr/>
            </p:nvSpPr>
            <p:spPr>
              <a:xfrm>
                <a:off x="9666737" y="8208123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𝑫𝒓𝒐𝒑𝒐𝒖𝒕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4" name="Rectangle: Rounded Corners 153">
                <a:extLst>
                  <a:ext uri="{FF2B5EF4-FFF2-40B4-BE49-F238E27FC236}">
                    <a16:creationId xmlns:a16="http://schemas.microsoft.com/office/drawing/2014/main" id="{21B548F6-785E-9C97-6F8D-E68367D251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737" y="8208123"/>
                <a:ext cx="1524001" cy="523875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D29006C4-6576-2698-1558-3A5D9139D4F1}"/>
                  </a:ext>
                </a:extLst>
              </p:cNvPr>
              <p:cNvSpPr/>
              <p:nvPr/>
            </p:nvSpPr>
            <p:spPr>
              <a:xfrm>
                <a:off x="11280986" y="8223497"/>
                <a:ext cx="1524001" cy="5238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𝑫𝒆𝒏𝒔𝒆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𝒔𝒊𝒈𝒎𝒐𝒊𝒅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100" b="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D29006C4-6576-2698-1558-3A5D9139D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0986" y="8223497"/>
                <a:ext cx="1524001" cy="523875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071CEEFA-BB66-0313-F277-94E7ABBE6F82}"/>
              </a:ext>
            </a:extLst>
          </p:cNvPr>
          <p:cNvSpPr/>
          <p:nvPr/>
        </p:nvSpPr>
        <p:spPr>
          <a:xfrm>
            <a:off x="13496451" y="9522543"/>
            <a:ext cx="2147890" cy="5643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latin typeface="Arial Narrow" panose="020B0606020202030204" pitchFamily="34" charset="0"/>
              </a:rPr>
              <a:t>Attack</a:t>
            </a:r>
            <a:endParaRPr lang="ar-AE" b="0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EF272F7-2CAB-98F6-AEBE-4C65D4845AE2}"/>
                  </a:ext>
                </a:extLst>
              </p:cNvPr>
              <p:cNvSpPr txBox="1"/>
              <p:nvPr/>
            </p:nvSpPr>
            <p:spPr>
              <a:xfrm>
                <a:off x="9215914" y="8777481"/>
                <a:ext cx="2090221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sz="1100" b="1" dirty="0">
                    <a:latin typeface="Arial Narrow" panose="020B0606020202030204" pitchFamily="34" charset="0"/>
                  </a:rPr>
                  <a:t>Exact tensor flow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a:rPr lang="ar-AE" sz="1100" i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ar-AE" sz="1100" i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sz="1100" dirty="0">
                  <a:latin typeface="Arial Narrow" panose="020B0606020202030204" pitchFamily="34" charset="0"/>
                </a:endParaRPr>
              </a:p>
              <a:p>
                <a:pPr algn="ctr">
                  <a:buNone/>
                </a:pPr>
                <a:endParaRPr lang="ar-AE" sz="11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EF272F7-2CAB-98F6-AEBE-4C65D4845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914" y="8777481"/>
                <a:ext cx="2090221" cy="600164"/>
              </a:xfrm>
              <a:prstGeom prst="rect">
                <a:avLst/>
              </a:prstGeom>
              <a:blipFill>
                <a:blip r:embed="rId33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AD1CF38-8F0A-0FBA-DE99-A8828278AD1B}"/>
                  </a:ext>
                </a:extLst>
              </p:cNvPr>
              <p:cNvSpPr txBox="1"/>
              <p:nvPr/>
            </p:nvSpPr>
            <p:spPr>
              <a:xfrm>
                <a:off x="8116068" y="9400098"/>
                <a:ext cx="265718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b="1" dirty="0">
                    <a:latin typeface="Arial Narrow" panose="020B0606020202030204" pitchFamily="34" charset="0"/>
                  </a:rPr>
                  <a:t>Output</a:t>
                </a:r>
              </a:p>
              <a:p>
                <a:pPr>
                  <a:buNone/>
                </a:pPr>
                <a:r>
                  <a:rPr lang="en-US" sz="1200" dirty="0">
                    <a:latin typeface="Arial Narrow" panose="020B0606020202030204" pitchFamily="34" charset="0"/>
                  </a:rPr>
                  <a:t>Attack probability: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2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sz="1200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:r>
                  <a:rPr lang="en-US" sz="1200" dirty="0">
                    <a:latin typeface="Arial Narrow" panose="020B0606020202030204" pitchFamily="34" charset="0"/>
                  </a:rPr>
                  <a:t>or scalar form: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dirty="0">
                  <a:latin typeface="Arial Narrow" panose="020B0606020202030204" pitchFamily="34" charset="0"/>
                </a:endParaRPr>
              </a:p>
              <a:p>
                <a:pPr>
                  <a:buNone/>
                </a:pPr>
                <a:endParaRPr lang="en-PK" sz="12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AD1CF38-8F0A-0FBA-DE99-A8828278A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068" y="9400098"/>
                <a:ext cx="2657183" cy="1200329"/>
              </a:xfrm>
              <a:prstGeom prst="rect">
                <a:avLst/>
              </a:prstGeom>
              <a:blipFill>
                <a:blip r:embed="rId34"/>
                <a:stretch>
                  <a:fillRect t="-50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2AB8F20-76F8-E801-E7FA-EFC4F8F9EF62}"/>
                  </a:ext>
                </a:extLst>
              </p:cNvPr>
              <p:cNvSpPr txBox="1"/>
              <p:nvPr/>
            </p:nvSpPr>
            <p:spPr>
              <a:xfrm>
                <a:off x="10511180" y="9620009"/>
                <a:ext cx="2425332" cy="788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latin typeface="Arial Narrow" panose="020B0606020202030204" pitchFamily="34" charset="0"/>
                  </a:rPr>
                  <a:t>Decision rule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4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2AB8F20-76F8-E801-E7FA-EFC4F8F9E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180" y="9620009"/>
                <a:ext cx="2425332" cy="788357"/>
              </a:xfrm>
              <a:prstGeom prst="rect">
                <a:avLst/>
              </a:prstGeom>
              <a:blipFill>
                <a:blip r:embed="rId35"/>
                <a:stretch>
                  <a:fillRect t="-103876" b="-19302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57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471</Words>
  <Application>Microsoft Office PowerPoint</Application>
  <PresentationFormat>Widescreen</PresentationFormat>
  <Paragraphs>145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U</dc:creator>
  <cp:lastModifiedBy>K U</cp:lastModifiedBy>
  <cp:revision>66</cp:revision>
  <dcterms:created xsi:type="dcterms:W3CDTF">2026-04-15T08:23:17Z</dcterms:created>
  <dcterms:modified xsi:type="dcterms:W3CDTF">2026-04-16T10:23:51Z</dcterms:modified>
</cp:coreProperties>
</file>